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" cy="10972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9116568" y="5116068"/>
            <a:ext cx="27432" cy="-10972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5116068"/>
            <a:ext cx="109728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 CONFLICT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美伊中东战况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深度调研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137160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2026年5月13日  ·  陈飞扬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今日议程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7589520" cy="9144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战争缘起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"史诗怒火行动"全过程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关键时间线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72天战事节点回顾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军事对峙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霍尔木兹海峡当前态势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26060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外交博弈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谈判桌上的拉锯战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经济冲击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全球能源市场震荡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35204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多方战场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黎巴嫩 · 也门 · 加沙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国际反应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大国博弈与盟友裂痕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434840"/>
            <a:ext cx="7589520" cy="4572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4498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未来预测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0040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三种情景分析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战争缘起："史诗怒火行动"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474720" cy="3474720"/>
          </a:xfrm>
          <a:prstGeom prst="rect">
            <a:avLst>
              <a:gd name="adj" fmla="val 1316"/>
            </a:avLst>
          </a:prstGeom>
          <a:solidFill>
            <a:srgbClr val="25272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0A500"/>
                </a:solidFill>
              </a:rPr>
              <a:t>2026.02.28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8CCD0"/>
                </a:solidFill>
              </a:rPr>
              <a:t>美以联合发动代号 "Operation Epic Fury"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大规模空袭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B6E71"/>
                </a:solidFill>
              </a:rPr>
              <a:t>击杀伊朗最高精神领袖哈梅内伊及多名军政高层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4297680" cy="1554480"/>
          </a:xfrm>
          <a:prstGeom prst="rect">
            <a:avLst>
              <a:gd name="adj" fmla="val 2941"/>
            </a:avLst>
          </a:prstGeom>
          <a:solidFill>
            <a:srgbClr val="252729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371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0A500"/>
                </a:solidFill>
              </a:rPr>
              <a:t>直接后果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穆杰塔巴·哈梅内伊继任最高领袖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伊朗对以色列及海湾地区发动大规模导弹报复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F3A2C"/>
                </a:solidFill>
              </a:rPr>
              <a:t>▸ 霍尔木兹海峡被封锁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F3A2C"/>
                </a:solidFill>
              </a:rPr>
              <a:t>▸ 全球能源市场剧烈震荡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926080"/>
            <a:ext cx="4297680" cy="1737360"/>
          </a:xfrm>
          <a:prstGeom prst="rect">
            <a:avLst>
              <a:gd name="adj" fmla="val 2632"/>
            </a:avLst>
          </a:prstGeom>
          <a:solidFill>
            <a:srgbClr val="252729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31089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F0A500"/>
                </a:solidFill>
              </a:rPr>
              <a:t>战前背景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2025年10月：伊朗终止2015年伊核协议（JCPOA）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2025年末：联合国制裁"回弹"，伊朗核浓缩水平上升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2026年1月：伊朗爆发全国抗议，约550人死亡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2026年2月：日内瓦间接谈判破裂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72天关键时间线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13716" cy="3474720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6" name="Shape 4"/>
          <p:cNvSpPr/>
          <p:nvPr/>
        </p:nvSpPr>
        <p:spPr>
          <a:xfrm>
            <a:off x="1298448" y="1316736"/>
            <a:ext cx="155448" cy="1554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261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26187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美以联合空袭，"史诗怒火行动"，战争爆发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98448" y="1892808"/>
            <a:ext cx="155448" cy="1554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837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3794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以色列入侵黎巴嫩南部，推进至利塔尼河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98448" y="2468880"/>
            <a:ext cx="155448" cy="1554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414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4140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也门胡塞武装参战，向以色列发射弹道导弹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98448" y="3044952"/>
            <a:ext cx="155448" cy="155448"/>
          </a:xfrm>
          <a:prstGeom prst="ellipse">
            <a:avLst/>
          </a:prstGeom>
          <a:solidFill>
            <a:srgbClr val="CF3A2C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2990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9900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美方宣布"无限期停火"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98448" y="3621024"/>
            <a:ext cx="155448" cy="155448"/>
          </a:xfrm>
          <a:prstGeom prst="ellipse">
            <a:avLst/>
          </a:prstGeom>
          <a:solidFill>
            <a:srgbClr val="CF3A2C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5661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美伊在霍尔木兹海峡再度交火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98448" y="4197096"/>
            <a:ext cx="155448" cy="155448"/>
          </a:xfrm>
          <a:prstGeom prst="ellipse">
            <a:avLst/>
          </a:prstGeom>
          <a:solidFill>
            <a:srgbClr val="CF3A2C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41422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伊朗通过巴基斯坦渠道正式拒绝美方方案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4572000"/>
            <a:ext cx="7955280" cy="320040"/>
          </a:xfrm>
          <a:prstGeom prst="rect">
            <a:avLst/>
          </a:prstGeom>
          <a:solidFill>
            <a:srgbClr val="252729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599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当前：Day 72  —  停火脆弱，谈判僵持，"边打边谈"常态化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当前军事态势：霍尔木兹海峡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美军中东部署军舰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伊朗导弹产能（vs战前）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61艘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商船被迫绕行好望角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3840480" cy="2194560"/>
          </a:xfrm>
          <a:prstGeom prst="rect">
            <a:avLst>
              <a:gd name="adj" fmla="val 2083"/>
            </a:avLst>
          </a:prstGeom>
          <a:solidFill>
            <a:srgbClr val="25272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美方部署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16艘军舰（含航母战斗群）部署中东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对伊朗港口实施海上封锁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"Project Freedom"：为商船提供护航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5月7-8日空袭格什姆港、阿巴斯港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3931920" cy="2194560"/>
          </a:xfrm>
          <a:prstGeom prst="rect">
            <a:avLst>
              <a:gd name="adj" fmla="val 2083"/>
            </a:avLst>
          </a:prstGeom>
          <a:solidFill>
            <a:srgbClr val="25272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伊朗部署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063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革命卫队封锁海峡两条航道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轻型潜艇在霍尔木兹海峡部署待命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保留战前约70%导弹库存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警告：任何侵犯将招致对美目标打击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成立"波斯湾海峡管理局"收取通行费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外交博弈：谈判桌上的拉锯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3474720"/>
          </a:xfrm>
          <a:prstGeom prst="rect">
            <a:avLst>
              <a:gd name="adj" fmla="val 1316"/>
            </a:avLst>
          </a:prstGeom>
          <a:solidFill>
            <a:srgbClr val="2527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美方方案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"一页备忘录"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结束战事，开放霍尔木兹海峡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▸ 启动30天细则谈判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B6E71"/>
                </a:solidFill>
              </a:rPr>
              <a:t>▸ 核问题等核心分歧被搁置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F3A2C"/>
                </a:solidFill>
              </a:rPr>
              <a:t>▸ 坚持"零浓缩"红线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F3A2C"/>
                </a:solidFill>
              </a:rPr>
              <a:t>▸ 特朗普：伊方回应 "TOTALLY UNACCEPTABLE"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3474720"/>
          </a:xfrm>
          <a:prstGeom prst="rect">
            <a:avLst>
              <a:gd name="adj" fmla="val 1316"/>
            </a:avLst>
          </a:prstGeom>
          <a:solidFill>
            <a:srgbClr val="25272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88720"/>
            <a:ext cx="3931920" cy="36576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伊方六条反条件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6B6E71"/>
                </a:solidFill>
              </a:rPr>
              <a:t>2026.05.10 通过巴基斯坦渠道递送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1. 永久停火（非"无限期"口头承诺）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2. 解除海上封锁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3. 全面撤销制裁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4. 释放冻结资产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5. 赔偿战争损失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CCD0"/>
                </a:solidFill>
              </a:rPr>
              <a:t>6. 承认伊朗对霍尔木兹海峡主权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调解方：巴基斯坦 · 瑞士  |  核心僵局："零浓缩" vs "和平利用核能权利"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全球经济冲击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463040"/>
          </a:xfrm>
          <a:prstGeom prst="rect">
            <a:avLst>
              <a:gd name="adj" fmla="val 3125"/>
            </a:avLst>
          </a:prstGeom>
          <a:solidFill>
            <a:srgbClr val="25272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布伦特原油价格走势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92224"/>
            <a:ext cx="914400" cy="128016"/>
          </a:xfrm>
          <a:prstGeom prst="rect">
            <a:avLst/>
          </a:prstGeom>
          <a:solidFill>
            <a:srgbClr val="6B6E7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17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536192"/>
            <a:ext cx="914400" cy="384048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261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312164"/>
            <a:ext cx="914400" cy="608076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378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4月高点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459382"/>
            <a:ext cx="914400" cy="46085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18506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5月当前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布伦特原油/桶（风险溢价$10-15）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2608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1:150万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2900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伊朗里亚尔兑美元汇率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926080"/>
            <a:ext cx="2560320" cy="1051560"/>
          </a:xfrm>
          <a:prstGeom prst="rect">
            <a:avLst>
              <a:gd name="adj" fmla="val 4348"/>
            </a:avLst>
          </a:prstGeom>
          <a:solidFill>
            <a:srgbClr val="252729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伊朗通胀率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8046720" cy="1005840"/>
          </a:xfrm>
          <a:prstGeom prst="rect">
            <a:avLst>
              <a:gd name="adj" fmla="val 4545"/>
            </a:avLst>
          </a:prstGeom>
          <a:solidFill>
            <a:srgbClr val="25272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0A500"/>
                </a:solidFill>
              </a:rPr>
              <a:t>关键影响：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8CCD0"/>
                </a:solidFill>
              </a:rPr>
              <a:t>▸ 若局势升级，油价或冲击$150/桶，引发全球衰退  |  ▸ 若达成协议，100-150万桶/日伊朗石油预计6-12个月内回归市场  |  ▸ 多家机构下调全球经济增长预期  |  ▸ 《日经亚洲》称为"半个世纪以来最具经济破坏性的战事"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多方战场格局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38328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2651760" cy="27432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🇱🇧  黎巴嫩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以军地面入侵，推进至利塔尼河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37万+儿童流离失所（UNICEF）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真主党22次攻击以军（5月9日）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黎政府禁止真主党军事活动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338328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188720"/>
            <a:ext cx="265176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🇾🇪  也门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胡塞武装3月28日参战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向别是巴、埃拉特发射弹道导弹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威胁封锁曼德海峡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声称协同伊朗与真主党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338328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27432"/>
          </a:xfrm>
          <a:prstGeom prst="rect">
            <a:avLst/>
          </a:prstGeom>
          <a:solidFill>
            <a:srgbClr val="6B6E7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🇵🇸  加沙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2025年10月停火基本维持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第二阶段谈判停滞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以色列控制53%加沙领土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哈马斯拒绝无条件解除武装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731520"/>
          </a:xfrm>
          <a:prstGeom prst="rect">
            <a:avLst>
              <a:gd name="adj" fmla="val 6250"/>
            </a:avLst>
          </a:prstGeom>
          <a:solidFill>
            <a:srgbClr val="25272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海湾国家：阿联酋拦截伊朗无人机（3人受伤）| 科威特机场燃料库遭袭 | 卡塔尔水域商船被击中 | 韩国货船被"不明飞行器"击中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国际反应与大国博弈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40080"/>
          </a:xfrm>
          <a:prstGeom prst="rect">
            <a:avLst>
              <a:gd name="adj" fmla="val 7143"/>
            </a:avLst>
          </a:prstGeom>
          <a:solidFill>
            <a:srgbClr val="2527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6400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G7 / 欧洲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表达关切但"撇清关系"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跨大西洋裂痕加深；卢比奥称盟国应对美"心存感激"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8046720" cy="640080"/>
          </a:xfrm>
          <a:prstGeom prst="rect">
            <a:avLst>
              <a:gd name="adj" fmla="val 7143"/>
            </a:avLst>
          </a:prstGeom>
          <a:solidFill>
            <a:srgbClr val="25272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965960"/>
            <a:ext cx="54864" cy="6400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俄罗斯 &amp; 中国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"有限回应"策略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与伊朗保持联系，但不愿直接军事介入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8046720" cy="640080"/>
          </a:xfrm>
          <a:prstGeom prst="rect">
            <a:avLst>
              <a:gd name="adj" fmla="val 7143"/>
            </a:avLst>
          </a:prstGeom>
          <a:solidFill>
            <a:srgbClr val="25272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743200"/>
            <a:ext cx="54864" cy="640080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中东盟国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陷入"安全外包"困境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依赖美国越深，安全风险越高 — 沙特基地遭袭，12名美军受伤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640080"/>
          </a:xfrm>
          <a:prstGeom prst="rect">
            <a:avLst>
              <a:gd name="adj" fmla="val 7143"/>
            </a:avLst>
          </a:prstGeom>
          <a:solidFill>
            <a:srgbClr val="25272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20440"/>
            <a:ext cx="54864" cy="640080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美国国内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近60%民众反对动武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中期选举选情动荡；多数学者将此战比作"苏伊士运河时刻"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8046720" cy="502920"/>
          </a:xfrm>
          <a:prstGeom prst="rect">
            <a:avLst>
              <a:gd name="adj" fmla="val 9091"/>
            </a:avLst>
          </a:prstGeom>
          <a:solidFill>
            <a:srgbClr val="25272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708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"这可能是美国霸权的苏伊士运河时刻" — 多国学者评论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专家分析：三种情景预测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47472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2651760" cy="24323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长期冻结冲突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最可能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914400" cy="9144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低烈度对峙持续，双方均无力全面升级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"用时间换取战略空间"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大概率成为未来数月主旋律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51760" cy="347472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188720"/>
            <a:ext cx="2651760" cy="1737360"/>
          </a:xfrm>
          <a:prstGeom prst="rect">
            <a:avLst/>
          </a:prstGeom>
          <a:solidFill>
            <a:srgbClr val="C8CCD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谈判突破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中等概率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2011680"/>
            <a:ext cx="914400" cy="9144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194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分阶段解决：海峡开放 → 永久停火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核问题谈判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需要至少一方做出重大让步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3474720"/>
          </a:xfrm>
          <a:prstGeom prst="rect">
            <a:avLst>
              <a:gd name="adj" fmla="val 1724"/>
            </a:avLst>
          </a:prstGeom>
          <a:solidFill>
            <a:srgbClr val="25272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2651760" cy="1042416"/>
          </a:xfrm>
          <a:prstGeom prst="rect">
            <a:avLst/>
          </a:prstGeom>
          <a:solidFill>
            <a:srgbClr val="CF3A2C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战火重燃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低概率高风险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2011680"/>
            <a:ext cx="914400" cy="9144"/>
          </a:xfrm>
          <a:prstGeom prst="rect">
            <a:avLst/>
          </a:prstGeom>
          <a:solidFill>
            <a:srgbClr val="3A3D4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194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大规模军事冲突重启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霍尔木兹海峡全面关闭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C8C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油价冲击$150+，全球衰退风险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关键数据一览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战争已持续天数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（截至5月10日）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371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16艘+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美军中东部署军舰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（含航母战斗群）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71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布伦特原油/桶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（风险溢价$10-15）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371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伊朗战前导弹保有量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（宣称产能达120%）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37万+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黎巴嫩流离失所儿童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（UNICEF数据）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310896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61艘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78892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商船被迫绕行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好望角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9204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伊朗通胀率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（里亚尔崩盘）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3108960"/>
            <a:ext cx="1920240" cy="1691640"/>
          </a:xfrm>
          <a:prstGeom prst="rect">
            <a:avLst>
              <a:gd name="adj" fmla="val 2703"/>
            </a:avLst>
          </a:prstGeom>
          <a:solidFill>
            <a:srgbClr val="252729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~550人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9516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伊朗国内抗议死亡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（2026.1前，ACLED）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6068"/>
            <a:ext cx="27432" cy="-10972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2286000"/>
          </a:xfrm>
          <a:prstGeom prst="rect">
            <a:avLst>
              <a:gd name="adj" fmla="val 2000"/>
            </a:avLst>
          </a:prstGeom>
          <a:solidFill>
            <a:srgbClr val="25272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F0A500"/>
                </a:solidFill>
              </a:rPr>
              <a:t>核心判断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C8CCD0"/>
                </a:solidFill>
              </a:rPr>
              <a:t>▸ 2026年中东已进入"后霸权时代"的震荡调整期 — 旧秩序加速瓦解，新格局尚未成形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C8CCD0"/>
                </a:solidFill>
              </a:rPr>
              <a:t>▸ 美伊双方均陷入消耗战困局，短期难见根本性突破 — "边打边谈"将成为新常态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C8CCD0"/>
                </a:solidFill>
              </a:rPr>
              <a:t>▸ 霍尔木兹海峡安全成全球最大不确定性因素 — 全球1/3海运石油命脉悬于一线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CF3A2C"/>
                </a:solidFill>
              </a:rPr>
              <a:t>▸ 世界正在为这场战争"买单" — 能源价格、供应链、国际秩序均受深刻重塑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1097280"/>
          </a:xfrm>
          <a:prstGeom prst="rect">
            <a:avLst>
              <a:gd name="adj" fmla="val 4167"/>
            </a:avLst>
          </a:prstGeom>
          <a:solidFill>
            <a:srgbClr val="25272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/ BBC / Reuters / Al Jazeera / France24 / 新华社 / 人民日报 / Chatham House / FDD / ACLED / 央视新闻 / 环球视线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陈飞扬 · 2026.05.13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美伊中东战况深度调研 — 2026年5月</dc:title>
  <dc:subject>PptxGenJS Presentation</dc:subject>
  <dc:creator>陈飞扬</dc:creator>
  <cp:lastModifiedBy>陈飞扬</cp:lastModifiedBy>
  <cp:revision>1</cp:revision>
  <dcterms:created xsi:type="dcterms:W3CDTF">2026-05-13T09:28:58Z</dcterms:created>
  <dcterms:modified xsi:type="dcterms:W3CDTF">2026-05-13T09:28:58Z</dcterms:modified>
</cp:coreProperties>
</file>